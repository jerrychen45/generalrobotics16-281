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Average"/>
      <p:regular r:id="rId23"/>
    </p:embeddedFont>
    <p:embeddedFont>
      <p:font typeface="Oswald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TdbZH2WEQf845Ndc8TwmPTVGd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Oswald-regular.fntdata"/><Relationship Id="rId23" Type="http://schemas.openxmlformats.org/officeDocument/2006/relationships/font" Target="fonts/Average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Oswal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897cde4a4c_1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1897cde4a4c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897cde4a4c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1897cde4a4c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897cde4a4c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1897cde4a4c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897cde4a4c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1897cde4a4c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897cde4a4c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1897cde4a4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3f762e3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3f762e3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34002c36ee_0_49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g334002c36ee_0_49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g334002c36ee_0_49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34002c36ee_0_49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34002c36ee_0_49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g334002c36ee_0_49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g334002c36ee_0_4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34002c36ee_0_57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34002c36ee_0_5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34002c36ee_0_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g334002c36ee_0_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34002c36ee_0_6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34002c36ee_0_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g334002c36ee_0_6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34002c36ee_0_6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34002c36ee_0_6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34002c36ee_0_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g334002c36ee_0_6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34002c36ee_0_7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34002c36ee_0_7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34002c36ee_0_7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34002c36ee_0_76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g334002c36ee_0_7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34002c36ee_0_7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g334002c36ee_0_7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g334002c36ee_0_7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g334002c36ee_0_7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g334002c36ee_0_7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g334002c36ee_0_7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34002c36ee_0_8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g334002c36ee_0_8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34002c36ee_0_89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334002c36ee_0_89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g334002c36ee_0_8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34002c36ee_0_9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34002c36ee_0_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g334002c36ee_0_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g334002c36ee_0_4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google.com/document/d/1B45nPd50UiPJv6QtBUbQxzMB5tSfVDLh/edit?usp=sharing&amp;ouid=104258472625866184522&amp;rtpof=true&amp;sd=true" TargetMode="External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>
            <p:ph type="ctrTitle"/>
          </p:nvPr>
        </p:nvSpPr>
        <p:spPr>
          <a:xfrm>
            <a:off x="-203850" y="431075"/>
            <a:ext cx="7893000" cy="18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D6A23"/>
              </a:buClr>
              <a:buSzPts val="5200"/>
              <a:buFont typeface="Calibri"/>
              <a:buNone/>
            </a:pPr>
            <a:r>
              <a:rPr i="0" lang="en-US" sz="5000" u="none" cap="none" strike="noStrike"/>
              <a:t>Lab 5 - Path Planning</a:t>
            </a:r>
            <a:endParaRPr sz="5000"/>
          </a:p>
        </p:txBody>
      </p:sp>
      <p:sp>
        <p:nvSpPr>
          <p:cNvPr id="60" name="Google Shape;60;p1"/>
          <p:cNvSpPr txBox="1"/>
          <p:nvPr>
            <p:ph idx="1" type="subTitle"/>
          </p:nvPr>
        </p:nvSpPr>
        <p:spPr>
          <a:xfrm>
            <a:off x="1146900" y="3213863"/>
            <a:ext cx="68502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6C5208"/>
              </a:buClr>
              <a:buSzPts val="2800"/>
              <a:buFont typeface="Calibri"/>
              <a:buNone/>
            </a:pPr>
            <a:r>
              <a:rPr lang="en-US" sz="2000">
                <a:solidFill>
                  <a:srgbClr val="FFFFFF"/>
                </a:solidFill>
              </a:rPr>
              <a:t>Lab TAs: Omar Aldhaher, Kenji Tella and Varun Sureka</a:t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E6C0B"/>
              </a:buClr>
              <a:buSzPts val="2800"/>
              <a:buFont typeface="Calibri"/>
              <a:buNone/>
            </a:pPr>
            <a:r>
              <a:rPr i="0" lang="en-US" sz="3200" u="none" cap="none" strike="noStrike">
                <a:solidFill>
                  <a:srgbClr val="FFFFFF"/>
                </a:solidFill>
              </a:rPr>
              <a:t>Goal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6" name="Google Shape;66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8137" lvl="0" marL="357187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Char char="•"/>
            </a:pPr>
            <a:r>
              <a:rPr lang="en-US" sz="2100">
                <a:solidFill>
                  <a:srgbClr val="FFFFFF"/>
                </a:solidFill>
              </a:rPr>
              <a:t>G</a:t>
            </a:r>
            <a:r>
              <a:rPr i="0" lang="en-US" sz="2100" u="none" cap="none" strike="noStrike">
                <a:solidFill>
                  <a:srgbClr val="FFFFFF"/>
                </a:solidFill>
              </a:rPr>
              <a:t>iven a start pos</a:t>
            </a:r>
            <a:r>
              <a:rPr lang="en-US" sz="2100">
                <a:solidFill>
                  <a:srgbClr val="FFFFFF"/>
                </a:solidFill>
              </a:rPr>
              <a:t>e</a:t>
            </a:r>
            <a:r>
              <a:rPr i="0" lang="en-US" sz="2100" u="none" cap="none" strike="noStrike">
                <a:solidFill>
                  <a:srgbClr val="FFFFFF"/>
                </a:solidFill>
              </a:rPr>
              <a:t> </a:t>
            </a:r>
            <a:r>
              <a:rPr lang="en-US" sz="2100">
                <a:solidFill>
                  <a:srgbClr val="FFFFFF"/>
                </a:solidFill>
              </a:rPr>
              <a:t>and end pose</a:t>
            </a:r>
            <a:r>
              <a:rPr i="0" lang="en-US" sz="2100" u="none" cap="none" strike="noStrike">
                <a:solidFill>
                  <a:srgbClr val="FFFFFF"/>
                </a:solidFill>
              </a:rPr>
              <a:t>, plan and execute a path through a known map without touching any obstacles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589686" y="4870825"/>
            <a:ext cx="33917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picture from https://www.iaacblog.com/programs/path-planning/</a:t>
            </a:r>
            <a:endParaRPr b="0" i="0" sz="8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, timeline&#10;&#10;Description automatically generated" id="68" name="Google Shape;6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467" y="2159191"/>
            <a:ext cx="4351020" cy="2711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>
            <p:ph type="title"/>
          </p:nvPr>
        </p:nvSpPr>
        <p:spPr>
          <a:xfrm>
            <a:off x="311700" y="453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Demo Procedure</a:t>
            </a:r>
            <a:endParaRPr/>
          </a:p>
        </p:txBody>
      </p:sp>
      <p:sp>
        <p:nvSpPr>
          <p:cNvPr id="74" name="Google Shape;74;p3"/>
          <p:cNvSpPr txBox="1"/>
          <p:nvPr>
            <p:ph idx="1" type="body"/>
          </p:nvPr>
        </p:nvSpPr>
        <p:spPr>
          <a:xfrm>
            <a:off x="262400" y="1149300"/>
            <a:ext cx="8754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>
                <a:solidFill>
                  <a:schemeClr val="dk1"/>
                </a:solidFill>
              </a:rPr>
              <a:t>Choose a </a:t>
            </a:r>
            <a:r>
              <a:rPr b="1" lang="en-US">
                <a:solidFill>
                  <a:schemeClr val="accent6"/>
                </a:solidFill>
              </a:rPr>
              <a:t>reference point</a:t>
            </a:r>
            <a:r>
              <a:rPr lang="en-US">
                <a:solidFill>
                  <a:schemeClr val="dk1"/>
                </a:solidFill>
              </a:rPr>
              <a:t> on your robot (all measurements will be made with respect to that point).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>
                <a:solidFill>
                  <a:schemeClr val="dk1"/>
                </a:solidFill>
              </a:rPr>
              <a:t>You will be given a start position </a:t>
            </a:r>
            <a:r>
              <a:rPr b="1" lang="en-US">
                <a:solidFill>
                  <a:schemeClr val="accent6"/>
                </a:solidFill>
              </a:rPr>
              <a:t>(x1, y1)</a:t>
            </a:r>
            <a:r>
              <a:rPr lang="en-US">
                <a:solidFill>
                  <a:schemeClr val="dk1"/>
                </a:solidFill>
              </a:rPr>
              <a:t> and end position </a:t>
            </a:r>
            <a:r>
              <a:rPr b="1" lang="en-US">
                <a:solidFill>
                  <a:schemeClr val="accent6"/>
                </a:solidFill>
              </a:rPr>
              <a:t>(x2, y2)</a:t>
            </a:r>
            <a:r>
              <a:rPr lang="en-US">
                <a:solidFill>
                  <a:schemeClr val="dk1"/>
                </a:solidFill>
              </a:rPr>
              <a:t>. They will be </a:t>
            </a:r>
            <a:r>
              <a:rPr b="1" lang="en-US">
                <a:solidFill>
                  <a:schemeClr val="accent6"/>
                </a:solidFill>
              </a:rPr>
              <a:t>at least 5 in</a:t>
            </a:r>
            <a:r>
              <a:rPr lang="en-US">
                <a:solidFill>
                  <a:schemeClr val="dk1"/>
                </a:solidFill>
              </a:rPr>
              <a:t> from all obstacles (including the walls). These coordinates will be with respect to a </a:t>
            </a:r>
            <a:r>
              <a:rPr b="1" lang="en-US">
                <a:solidFill>
                  <a:schemeClr val="accent6"/>
                </a:solidFill>
              </a:rPr>
              <a:t>bottom-left origin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1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>
                <a:solidFill>
                  <a:schemeClr val="dk1"/>
                </a:solidFill>
              </a:rPr>
              <a:t>E.g. “You starting position is (40, 32) and goal is (16, 8)”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>
                <a:solidFill>
                  <a:schemeClr val="dk1"/>
                </a:solidFill>
              </a:rPr>
              <a:t>Your robot will initially be oriented in one of the </a:t>
            </a:r>
            <a:r>
              <a:rPr b="1" lang="en-US">
                <a:solidFill>
                  <a:schemeClr val="accent6"/>
                </a:solidFill>
              </a:rPr>
              <a:t>four cardinal </a:t>
            </a:r>
            <a:r>
              <a:rPr lang="en-US">
                <a:solidFill>
                  <a:schemeClr val="dk1"/>
                </a:solidFill>
              </a:rPr>
              <a:t>directions. (</a:t>
            </a:r>
            <a:r>
              <a:rPr b="1" lang="en-US">
                <a:solidFill>
                  <a:schemeClr val="accent6"/>
                </a:solidFill>
              </a:rPr>
              <a:t>Picked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b="1" lang="en-US">
                <a:solidFill>
                  <a:schemeClr val="accent6"/>
                </a:solidFill>
              </a:rPr>
              <a:t>randomly</a:t>
            </a:r>
            <a:r>
              <a:rPr b="1" lang="en-US">
                <a:solidFill>
                  <a:schemeClr val="dk1"/>
                </a:solidFill>
              </a:rPr>
              <a:t> </a:t>
            </a:r>
            <a:r>
              <a:rPr lang="en-US">
                <a:solidFill>
                  <a:schemeClr val="dk1"/>
                </a:solidFill>
              </a:rPr>
              <a:t>during demo!)</a:t>
            </a:r>
            <a:endParaRPr>
              <a:solidFill>
                <a:schemeClr val="dk1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897cde4a4c_1_33"/>
          <p:cNvSpPr txBox="1"/>
          <p:nvPr>
            <p:ph type="title"/>
          </p:nvPr>
        </p:nvSpPr>
        <p:spPr>
          <a:xfrm>
            <a:off x="311700" y="453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Demo Procedure</a:t>
            </a:r>
            <a:endParaRPr/>
          </a:p>
        </p:txBody>
      </p:sp>
      <p:sp>
        <p:nvSpPr>
          <p:cNvPr id="80" name="Google Shape;80;g1897cde4a4c_1_33"/>
          <p:cNvSpPr txBox="1"/>
          <p:nvPr>
            <p:ph idx="1" type="body"/>
          </p:nvPr>
        </p:nvSpPr>
        <p:spPr>
          <a:xfrm>
            <a:off x="262400" y="11493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71500" lvl="0" marL="5715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4.	Run your path planning algorithm to determine the path to be taken by the             robot. You </a:t>
            </a:r>
            <a:r>
              <a:rPr b="1" lang="en-US">
                <a:solidFill>
                  <a:schemeClr val="accent6"/>
                </a:solidFill>
              </a:rPr>
              <a:t>must show this path to the TA before</a:t>
            </a:r>
            <a:r>
              <a:rPr b="1" lang="en-US">
                <a:solidFill>
                  <a:schemeClr val="dk1"/>
                </a:solidFill>
              </a:rPr>
              <a:t> </a:t>
            </a:r>
            <a:r>
              <a:rPr lang="en-US">
                <a:solidFill>
                  <a:schemeClr val="dk1"/>
                </a:solidFill>
              </a:rPr>
              <a:t>the robot moves</a:t>
            </a:r>
            <a:r>
              <a:rPr b="1" lang="en-US">
                <a:solidFill>
                  <a:schemeClr val="dk1"/>
                </a:solidFill>
              </a:rPr>
              <a:t>.</a:t>
            </a:r>
            <a:endParaRPr b="1">
              <a:solidFill>
                <a:schemeClr val="dk1"/>
              </a:solidFill>
            </a:endParaRPr>
          </a:p>
          <a:p>
            <a:pPr indent="-342900" lvl="0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eriod"/>
            </a:pPr>
            <a:r>
              <a:rPr lang="en-US" sz="1800">
                <a:solidFill>
                  <a:schemeClr val="dk1"/>
                </a:solidFill>
              </a:rPr>
              <a:t>This does </a:t>
            </a:r>
            <a:r>
              <a:rPr b="1" lang="en-US">
                <a:solidFill>
                  <a:schemeClr val="accent6"/>
                </a:solidFill>
              </a:rPr>
              <a:t>NOT </a:t>
            </a:r>
            <a:r>
              <a:rPr lang="en-US" sz="1800">
                <a:solidFill>
                  <a:schemeClr val="dk1"/>
                </a:solidFill>
              </a:rPr>
              <a:t>have to be done on the </a:t>
            </a:r>
            <a:r>
              <a:rPr lang="en-US">
                <a:solidFill>
                  <a:schemeClr val="dk1"/>
                </a:solidFill>
              </a:rPr>
              <a:t>MotorGo Plinks</a:t>
            </a:r>
            <a:r>
              <a:rPr lang="en-US" sz="1800">
                <a:solidFill>
                  <a:schemeClr val="dk1"/>
                </a:solidFill>
              </a:rPr>
              <a:t>. You may use Python, MATLAB or any other tools to generate your trajectory.</a:t>
            </a:r>
            <a:endParaRPr sz="1800">
              <a:solidFill>
                <a:schemeClr val="dk1"/>
              </a:solidFill>
            </a:endParaRPr>
          </a:p>
          <a:p>
            <a:pPr indent="-514350" lvl="0" marL="51435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5. 	Your robot will navigate from the given starting position to the given ending position </a:t>
            </a:r>
            <a:r>
              <a:rPr b="1" lang="en-US">
                <a:solidFill>
                  <a:schemeClr val="accent6"/>
                </a:solidFill>
              </a:rPr>
              <a:t>within specified time limits</a:t>
            </a:r>
            <a:r>
              <a:rPr lang="en-US">
                <a:solidFill>
                  <a:schemeClr val="dk1"/>
                </a:solidFill>
              </a:rPr>
              <a:t>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You will be graded on the </a:t>
            </a:r>
            <a:r>
              <a:rPr b="1" lang="en-US">
                <a:solidFill>
                  <a:schemeClr val="accent6"/>
                </a:solidFill>
              </a:rPr>
              <a:t>L2 error</a:t>
            </a:r>
            <a:r>
              <a:rPr lang="en-US">
                <a:solidFill>
                  <a:schemeClr val="dk1"/>
                </a:solidFill>
              </a:rPr>
              <a:t> between the </a:t>
            </a:r>
            <a:r>
              <a:rPr b="1" lang="en-US">
                <a:solidFill>
                  <a:schemeClr val="accent6"/>
                </a:solidFill>
              </a:rPr>
              <a:t>goal position</a:t>
            </a:r>
            <a:r>
              <a:rPr lang="en-US">
                <a:solidFill>
                  <a:schemeClr val="dk1"/>
                </a:solidFill>
              </a:rPr>
              <a:t> and the </a:t>
            </a:r>
            <a:r>
              <a:rPr b="1" lang="en-US">
                <a:solidFill>
                  <a:schemeClr val="accent6"/>
                </a:solidFill>
              </a:rPr>
              <a:t>reference point</a:t>
            </a:r>
            <a:r>
              <a:rPr lang="en-US">
                <a:solidFill>
                  <a:schemeClr val="dk1"/>
                </a:solidFill>
              </a:rPr>
              <a:t> on your robot, and the </a:t>
            </a:r>
            <a:r>
              <a:rPr b="1" lang="en-US">
                <a:solidFill>
                  <a:schemeClr val="accent6"/>
                </a:solidFill>
              </a:rPr>
              <a:t>time</a:t>
            </a:r>
            <a:r>
              <a:rPr b="1" lang="en-US">
                <a:solidFill>
                  <a:schemeClr val="dk1"/>
                </a:solidFill>
              </a:rPr>
              <a:t> </a:t>
            </a:r>
            <a:r>
              <a:rPr lang="en-US">
                <a:solidFill>
                  <a:schemeClr val="dk1"/>
                </a:solidFill>
              </a:rPr>
              <a:t>taken to get there.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230947" y="1979947"/>
            <a:ext cx="2440200" cy="177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 picture of easy course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00" y="1979975"/>
            <a:ext cx="2603848" cy="19579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FFFFFF"/>
                </a:solidFill>
              </a:rPr>
              <a:t>The Courses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8" name="Google Shape;88;p4"/>
          <p:cNvSpPr txBox="1"/>
          <p:nvPr>
            <p:ph idx="1" type="body"/>
          </p:nvPr>
        </p:nvSpPr>
        <p:spPr>
          <a:xfrm>
            <a:off x="2796840" y="1457400"/>
            <a:ext cx="1427400" cy="370200"/>
          </a:xfrm>
          <a:prstGeom prst="rect">
            <a:avLst/>
          </a:prstGeom>
          <a:noFill/>
          <a:ln cap="flat" cmpd="sng" w="9525">
            <a:solidFill>
              <a:srgbClr val="F3F3F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US" sz="1600">
                <a:solidFill>
                  <a:srgbClr val="EFEFEF"/>
                </a:solidFill>
              </a:rPr>
              <a:t> Hard Course</a:t>
            </a:r>
            <a:endParaRPr sz="1600">
              <a:solidFill>
                <a:srgbClr val="EFEFEF"/>
              </a:solidFill>
            </a:endParaRPr>
          </a:p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67300" y="1457388"/>
            <a:ext cx="1364700" cy="370200"/>
          </a:xfrm>
          <a:prstGeom prst="rect">
            <a:avLst/>
          </a:prstGeom>
          <a:noFill/>
          <a:ln cap="flat" cmpd="sng" w="9525">
            <a:solidFill>
              <a:srgbClr val="F3F3F3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US" sz="1600">
                <a:solidFill>
                  <a:srgbClr val="EFEFEF"/>
                </a:solidFill>
              </a:rPr>
              <a:t>Easy Course</a:t>
            </a:r>
            <a:endParaRPr sz="1600">
              <a:solidFill>
                <a:srgbClr val="EFEFEF"/>
              </a:solidFill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796850" y="1979913"/>
            <a:ext cx="2518200" cy="19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 picture of hard course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6847" y="1979975"/>
            <a:ext cx="2603848" cy="19579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 txBox="1"/>
          <p:nvPr/>
        </p:nvSpPr>
        <p:spPr>
          <a:xfrm>
            <a:off x="5526400" y="401400"/>
            <a:ext cx="3271500" cy="49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OPTION: Run without physical obstacles (-20 points)</a:t>
            </a:r>
            <a:endParaRPr b="1"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The obstacles will still be there, but only as tape marks. If your robot does not clearly attempt to navigate around the tape lines, YOU WILL GET A 0.</a:t>
            </a:r>
            <a:endParaRPr b="1"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(</a:t>
            </a:r>
            <a:r>
              <a:rPr b="1" lang="en-US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This allows you to demo without fear of hitting the obstacle and having odom mess up beyond recovery)</a:t>
            </a:r>
            <a:endParaRPr b="1"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>
            <p:ph type="title"/>
          </p:nvPr>
        </p:nvSpPr>
        <p:spPr>
          <a:xfrm>
            <a:off x="190550" y="202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Obstacle Locations (inches) </a:t>
            </a:r>
            <a:endParaRPr/>
          </a:p>
        </p:txBody>
      </p:sp>
      <p:sp>
        <p:nvSpPr>
          <p:cNvPr id="98" name="Google Shape;9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Coordinates for path planning are given in (x, y) form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Origin is at </a:t>
            </a:r>
            <a:r>
              <a:rPr b="1" lang="en-US" u="sng">
                <a:solidFill>
                  <a:schemeClr val="dk1"/>
                </a:solidFill>
              </a:rPr>
              <a:t>bottom-left</a:t>
            </a:r>
            <a:r>
              <a:rPr lang="en-US">
                <a:solidFill>
                  <a:schemeClr val="dk1"/>
                </a:solidFill>
              </a:rPr>
              <a:t> corner of each course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Positive-x is towards the right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Positive-y is towards the top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Your robot’s initial orientation will be a random cardinal direction picked by the TA (you can input it into the code)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All coordinates are in inches and are approximate. You are responsible for measuring their locations yourselves to be sure.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9" name="Google Shape;9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03" y="851149"/>
            <a:ext cx="4349334" cy="214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5"/>
          <p:cNvPicPr preferRelativeResize="0"/>
          <p:nvPr/>
        </p:nvPicPr>
        <p:blipFill rotWithShape="1">
          <a:blip r:embed="rId4">
            <a:alphaModFix/>
          </a:blip>
          <a:srcRect b="31886" l="2754" r="4185" t="3805"/>
          <a:stretch/>
        </p:blipFill>
        <p:spPr>
          <a:xfrm>
            <a:off x="119000" y="2951937"/>
            <a:ext cx="4349325" cy="212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Tasks</a:t>
            </a:r>
            <a:endParaRPr/>
          </a:p>
        </p:txBody>
      </p:sp>
      <p:sp>
        <p:nvSpPr>
          <p:cNvPr id="106" name="Google Shape;106;p7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We will provide some helpful materials you should take advantage of</a:t>
            </a:r>
            <a:r>
              <a:rPr lang="en-US" sz="1400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construct_map.py (to help you port maps into your code)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Psuedo code for path generation methods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Pseudo code for roadmap path planning strategy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 sz="1400">
                <a:solidFill>
                  <a:srgbClr val="FFFFFF"/>
                </a:solidFill>
              </a:rPr>
              <a:t>Prepare your </a:t>
            </a:r>
            <a:r>
              <a:rPr b="1" lang="en-US" sz="1400">
                <a:solidFill>
                  <a:schemeClr val="accent6"/>
                </a:solidFill>
              </a:rPr>
              <a:t>odometry </a:t>
            </a:r>
            <a:r>
              <a:rPr lang="en-US" sz="1400">
                <a:solidFill>
                  <a:srgbClr val="FFFFFF"/>
                </a:solidFill>
              </a:rPr>
              <a:t>as necessary so that it can interface with the rest of the code you will write.</a:t>
            </a:r>
            <a:endParaRPr sz="1400">
              <a:solidFill>
                <a:srgbClr val="FFFFF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 sz="1400">
                <a:solidFill>
                  <a:srgbClr val="FFFFFF"/>
                </a:solidFill>
              </a:rPr>
              <a:t>Think about your </a:t>
            </a:r>
            <a:r>
              <a:rPr b="1" lang="en-US" sz="1400">
                <a:solidFill>
                  <a:schemeClr val="accent6"/>
                </a:solidFill>
              </a:rPr>
              <a:t>map representation</a:t>
            </a:r>
            <a:r>
              <a:rPr lang="en-US" sz="1400">
                <a:solidFill>
                  <a:srgbClr val="FFFFFF"/>
                </a:solidFill>
              </a:rPr>
              <a:t> (grid, voronoi, visibility, etc). Which one will you choose? How will you represent it? </a:t>
            </a:r>
            <a:endParaRPr sz="1400">
              <a:solidFill>
                <a:srgbClr val="FFFFFF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-US">
                <a:solidFill>
                  <a:srgbClr val="FFFFFF"/>
                </a:solidFill>
              </a:rPr>
              <a:t>Remember to incorporate your </a:t>
            </a:r>
            <a:r>
              <a:rPr b="1" lang="en-US">
                <a:solidFill>
                  <a:schemeClr val="accent6"/>
                </a:solidFill>
              </a:rPr>
              <a:t>c-space</a:t>
            </a:r>
            <a:r>
              <a:rPr lang="en-US">
                <a:solidFill>
                  <a:srgbClr val="FFFFFF"/>
                </a:solidFill>
              </a:rPr>
              <a:t> into your map representation. 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-US">
                <a:solidFill>
                  <a:srgbClr val="FFFFFF"/>
                </a:solidFill>
              </a:rPr>
              <a:t>For better code modularity, we recommend creating a separate file for map representation helper functions.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897cde4a4c_1_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Tasks</a:t>
            </a:r>
            <a:endParaRPr/>
          </a:p>
        </p:txBody>
      </p:sp>
      <p:sp>
        <p:nvSpPr>
          <p:cNvPr id="112" name="Google Shape;112;g1897cde4a4c_1_14"/>
          <p:cNvSpPr txBox="1"/>
          <p:nvPr>
            <p:ph idx="1" type="body"/>
          </p:nvPr>
        </p:nvSpPr>
        <p:spPr>
          <a:xfrm>
            <a:off x="311700" y="1017725"/>
            <a:ext cx="8520600" cy="4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-US" sz="1700">
                <a:solidFill>
                  <a:srgbClr val="FFFFFF"/>
                </a:solidFill>
              </a:rPr>
              <a:t>Write your path planning algorithm. This does not need to be done in the same file as your motor commands. </a:t>
            </a:r>
            <a:endParaRPr sz="1700">
              <a:solidFill>
                <a:srgbClr val="FFFFFF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You </a:t>
            </a:r>
            <a:r>
              <a:rPr b="1" lang="en-US" sz="1700">
                <a:solidFill>
                  <a:schemeClr val="accent6"/>
                </a:solidFill>
              </a:rPr>
              <a:t>can write this in any language</a:t>
            </a:r>
            <a:r>
              <a:rPr lang="en-US" sz="1700">
                <a:solidFill>
                  <a:schemeClr val="dk1"/>
                </a:solidFill>
              </a:rPr>
              <a:t> you choose. (although if you want to use the starter construct_map.py, it’ll probably be python)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You </a:t>
            </a:r>
            <a:r>
              <a:rPr b="1" lang="en-US" sz="1700">
                <a:solidFill>
                  <a:schemeClr val="accent6"/>
                </a:solidFill>
              </a:rPr>
              <a:t>cannot use any built-in graph search functions</a:t>
            </a:r>
            <a:r>
              <a:rPr lang="en-US" sz="1700">
                <a:solidFill>
                  <a:schemeClr val="dk1"/>
                </a:solidFill>
              </a:rPr>
              <a:t> or packages that trivialize this (ask on Piazza).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-US" sz="1700">
                <a:solidFill>
                  <a:srgbClr val="FFFFFF"/>
                </a:solidFill>
              </a:rPr>
              <a:t>Choose any algorithm you want! (ask: optimal with respect to what?) </a:t>
            </a:r>
            <a:endParaRPr sz="1700">
              <a:solidFill>
                <a:srgbClr val="FFFFFF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○"/>
            </a:pPr>
            <a:r>
              <a:rPr lang="en-US" sz="1700">
                <a:solidFill>
                  <a:srgbClr val="FFFFFF"/>
                </a:solidFill>
              </a:rPr>
              <a:t>Bug 1 / Bug 2</a:t>
            </a:r>
            <a:endParaRPr sz="1700">
              <a:solidFill>
                <a:srgbClr val="FFFFFF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○"/>
            </a:pPr>
            <a:r>
              <a:rPr lang="en-US" sz="1700">
                <a:solidFill>
                  <a:srgbClr val="FFFFFF"/>
                </a:solidFill>
              </a:rPr>
              <a:t>Wavefront</a:t>
            </a:r>
            <a:endParaRPr sz="1700">
              <a:solidFill>
                <a:srgbClr val="FFFFFF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○"/>
            </a:pPr>
            <a:r>
              <a:rPr lang="en-US" sz="1700">
                <a:solidFill>
                  <a:srgbClr val="FFFFFF"/>
                </a:solidFill>
              </a:rPr>
              <a:t>Potential function</a:t>
            </a:r>
            <a:endParaRPr sz="1700">
              <a:solidFill>
                <a:srgbClr val="FFFFFF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○"/>
            </a:pPr>
            <a:r>
              <a:rPr lang="en-US" sz="1700">
                <a:solidFill>
                  <a:srgbClr val="FFFFFF"/>
                </a:solidFill>
              </a:rPr>
              <a:t>Djikstra/A*</a:t>
            </a:r>
            <a:endParaRPr sz="1700">
              <a:solidFill>
                <a:srgbClr val="FFFFFF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○"/>
            </a:pPr>
            <a:r>
              <a:rPr lang="en-US" sz="1700">
                <a:solidFill>
                  <a:srgbClr val="FFFFFF"/>
                </a:solidFill>
              </a:rPr>
              <a:t>Anything else! </a:t>
            </a: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-US" sz="1700">
                <a:solidFill>
                  <a:srgbClr val="FFFFFF"/>
                </a:solidFill>
              </a:rPr>
              <a:t>Note: During demos, you will </a:t>
            </a:r>
            <a:r>
              <a:rPr b="1" lang="en-US" sz="1700">
                <a:solidFill>
                  <a:schemeClr val="accent6"/>
                </a:solidFill>
              </a:rPr>
              <a:t>need to show the TA the path</a:t>
            </a:r>
            <a:r>
              <a:rPr lang="en-US" sz="1700">
                <a:solidFill>
                  <a:srgbClr val="FFFFFF"/>
                </a:solidFill>
              </a:rPr>
              <a:t> before your robot moves. </a:t>
            </a:r>
            <a:endParaRPr sz="1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897cde4a4c_1_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Tasks</a:t>
            </a:r>
            <a:endParaRPr/>
          </a:p>
        </p:txBody>
      </p:sp>
      <p:sp>
        <p:nvSpPr>
          <p:cNvPr id="118" name="Google Shape;118;g1897cde4a4c_1_21"/>
          <p:cNvSpPr txBox="1"/>
          <p:nvPr>
            <p:ph idx="1" type="body"/>
          </p:nvPr>
        </p:nvSpPr>
        <p:spPr>
          <a:xfrm>
            <a:off x="311700" y="1017725"/>
            <a:ext cx="8520600" cy="4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-US" sz="1700">
                <a:solidFill>
                  <a:srgbClr val="FFFFFF"/>
                </a:solidFill>
              </a:rPr>
              <a:t>Write your path following code. </a:t>
            </a:r>
            <a:r>
              <a:rPr b="1" lang="en-US" sz="1700">
                <a:solidFill>
                  <a:schemeClr val="accent6"/>
                </a:solidFill>
              </a:rPr>
              <a:t>Convert the path above to motor commands</a:t>
            </a:r>
            <a:r>
              <a:rPr lang="en-US" sz="1700">
                <a:solidFill>
                  <a:srgbClr val="FFFFFF"/>
                </a:solidFill>
              </a:rPr>
              <a:t>. Here are some options to consider. </a:t>
            </a:r>
            <a:endParaRPr sz="1700">
              <a:solidFill>
                <a:srgbClr val="FFFFFF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○"/>
            </a:pPr>
            <a:r>
              <a:rPr lang="en-US" sz="1700">
                <a:solidFill>
                  <a:srgbClr val="FFFFFF"/>
                </a:solidFill>
              </a:rPr>
              <a:t>Blind point-and-drive (Is this a good idea?)</a:t>
            </a:r>
            <a:endParaRPr sz="1700">
              <a:solidFill>
                <a:srgbClr val="FFFFFF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○"/>
            </a:pPr>
            <a:r>
              <a:rPr lang="en-US" sz="1700">
                <a:solidFill>
                  <a:srgbClr val="FFFFFF"/>
                </a:solidFill>
              </a:rPr>
              <a:t>Some combination of PID on heading error and/or lateral error from the path</a:t>
            </a:r>
            <a:endParaRPr sz="1700">
              <a:solidFill>
                <a:srgbClr val="FFFFFF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○"/>
            </a:pPr>
            <a:r>
              <a:rPr lang="en-US" sz="1700">
                <a:solidFill>
                  <a:srgbClr val="FFFFFF"/>
                </a:solidFill>
              </a:rPr>
              <a:t>Pure pursuit </a:t>
            </a:r>
            <a:endParaRPr sz="1700">
              <a:solidFill>
                <a:srgbClr val="FFFFFF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○"/>
            </a:pPr>
            <a:r>
              <a:rPr lang="en-US" sz="1700">
                <a:solidFill>
                  <a:srgbClr val="FFFFFF"/>
                </a:solidFill>
              </a:rPr>
              <a:t>Anything else! </a:t>
            </a: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lang="en-US" sz="1700">
                <a:solidFill>
                  <a:srgbClr val="FFFFFF"/>
                </a:solidFill>
              </a:rPr>
              <a:t>Choose one that works best for your team.</a:t>
            </a:r>
            <a:endParaRPr sz="17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Displaying Your Path</a:t>
            </a:r>
            <a:endParaRPr/>
          </a:p>
        </p:txBody>
      </p:sp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252175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Char char="●"/>
            </a:pPr>
            <a:r>
              <a:rPr lang="en-US" sz="1900">
                <a:solidFill>
                  <a:srgbClr val="FFFFFF"/>
                </a:solidFill>
              </a:rPr>
              <a:t>You must show TAs the intended path/trajectory </a:t>
            </a:r>
            <a:r>
              <a:rPr b="1" i="1" lang="en-US" sz="1900">
                <a:solidFill>
                  <a:schemeClr val="accent6"/>
                </a:solidFill>
              </a:rPr>
              <a:t>before</a:t>
            </a:r>
            <a:r>
              <a:rPr b="1" lang="en-US" sz="1900">
                <a:solidFill>
                  <a:schemeClr val="accent6"/>
                </a:solidFill>
              </a:rPr>
              <a:t> </a:t>
            </a:r>
            <a:r>
              <a:rPr lang="en-US" sz="1900">
                <a:solidFill>
                  <a:srgbClr val="FFFFFF"/>
                </a:solidFill>
              </a:rPr>
              <a:t>your robot moves</a:t>
            </a:r>
            <a:endParaRPr sz="19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en-US" sz="1500">
                <a:solidFill>
                  <a:srgbClr val="FFFFFF"/>
                </a:solidFill>
              </a:rPr>
              <a:t>Your path must be easily understandable for TAs during the demo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en-US" sz="1500">
                <a:solidFill>
                  <a:srgbClr val="FFFFFF"/>
                </a:solidFill>
              </a:rPr>
              <a:t>Ex: If you used waypoints, you can bring a hard copy of a map with waypoints marked on it. </a:t>
            </a:r>
            <a:endParaRPr sz="1500">
              <a:solidFill>
                <a:srgbClr val="FFFFFF"/>
              </a:solidFill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■"/>
            </a:pPr>
            <a:r>
              <a:rPr lang="en-US" sz="1500">
                <a:solidFill>
                  <a:srgbClr val="FFFFFF"/>
                </a:solidFill>
              </a:rPr>
              <a:t>Showing the TAs a list of points that the robot will follow is a valid way of showing an intended path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en-US" sz="1500">
                <a:solidFill>
                  <a:srgbClr val="FFFFFF"/>
                </a:solidFill>
              </a:rPr>
              <a:t>You could generate a map with the clearly identifiable path displayed on it using tools like Matlab or Python</a:t>
            </a:r>
            <a:endParaRPr sz="1500">
              <a:solidFill>
                <a:srgbClr val="FFFFFF"/>
              </a:solidFill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■"/>
            </a:pPr>
            <a:r>
              <a:rPr lang="en-US" sz="1500">
                <a:solidFill>
                  <a:srgbClr val="FFFFFF"/>
                </a:solidFill>
              </a:rPr>
              <a:t>If you choose Matlab in conjunction with BrickPi, please be sure to practice interfacing between Matlab and BrickPi by demo day (given very limited demo time)</a:t>
            </a:r>
            <a:endParaRPr sz="1500">
              <a:solidFill>
                <a:srgbClr val="FFFFFF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Char char="●"/>
            </a:pPr>
            <a:r>
              <a:rPr lang="en-US" sz="1900">
                <a:solidFill>
                  <a:srgbClr val="FFFFFF"/>
                </a:solidFill>
              </a:rPr>
              <a:t>Time taken to calculate path will be part of your </a:t>
            </a:r>
            <a:r>
              <a:rPr b="1" lang="en-US" sz="1900">
                <a:solidFill>
                  <a:srgbClr val="FFFF00"/>
                </a:solidFill>
              </a:rPr>
              <a:t>7 minute</a:t>
            </a:r>
            <a:r>
              <a:rPr lang="en-US" sz="1900">
                <a:solidFill>
                  <a:srgbClr val="FFFFFF"/>
                </a:solidFill>
              </a:rPr>
              <a:t> demo slot. </a:t>
            </a:r>
            <a:endParaRPr sz="19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en-US" sz="1500">
                <a:solidFill>
                  <a:srgbClr val="FFFFFF"/>
                </a:solidFill>
              </a:rPr>
              <a:t>You will need to calculate and show the path for each of the two trials.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Individual Q &amp; A</a:t>
            </a:r>
            <a:endParaRPr/>
          </a:p>
        </p:txBody>
      </p:sp>
      <p:sp>
        <p:nvSpPr>
          <p:cNvPr id="130" name="Google Shape;130;p8"/>
          <p:cNvSpPr txBox="1"/>
          <p:nvPr>
            <p:ph idx="1" type="body"/>
          </p:nvPr>
        </p:nvSpPr>
        <p:spPr>
          <a:xfrm>
            <a:off x="311700" y="1081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FFFFFF"/>
                </a:solidFill>
              </a:rPr>
              <a:t>At the end of your team’s demo, we will ask each member of your group one question (3 total questions) that can be related to any of the following: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US">
                <a:solidFill>
                  <a:srgbClr val="FFFFFF"/>
                </a:solidFill>
              </a:rPr>
              <a:t>General path planning algorithms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US">
                <a:solidFill>
                  <a:srgbClr val="FFFFFF"/>
                </a:solidFill>
              </a:rPr>
              <a:t>Your team’s implementation for the lab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US">
                <a:solidFill>
                  <a:srgbClr val="FFFFFF"/>
                </a:solidFill>
              </a:rPr>
              <a:t>The trade-offs your team made when implementing your algorithm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US">
                <a:solidFill>
                  <a:srgbClr val="FFFFFF"/>
                </a:solidFill>
              </a:rPr>
              <a:t>Real-world path planning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chemeClr val="accent6"/>
                </a:solidFill>
              </a:rPr>
              <a:t>MAKE SURE</a:t>
            </a:r>
            <a:r>
              <a:rPr lang="en-US">
                <a:solidFill>
                  <a:srgbClr val="FFFFFF"/>
                </a:solidFill>
              </a:rPr>
              <a:t> you fully understand every aspect of your team’s implementation before the demo.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-US">
                <a:solidFill>
                  <a:srgbClr val="FFFFFF"/>
                </a:solidFill>
              </a:rPr>
              <a:t>You will </a:t>
            </a:r>
            <a:r>
              <a:rPr b="1" lang="en-US">
                <a:solidFill>
                  <a:schemeClr val="accent6"/>
                </a:solidFill>
              </a:rPr>
              <a:t>NOT </a:t>
            </a:r>
            <a:r>
              <a:rPr lang="en-US">
                <a:solidFill>
                  <a:srgbClr val="FFFFFF"/>
                </a:solidFill>
              </a:rPr>
              <a:t>be allowed to consult with your teammates when we ask you a question.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type="title"/>
          </p:nvPr>
        </p:nvSpPr>
        <p:spPr>
          <a:xfrm>
            <a:off x="311700" y="430900"/>
            <a:ext cx="3899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FFFFFF"/>
                </a:solidFill>
              </a:rPr>
              <a:t>Grading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800">
                <a:solidFill>
                  <a:srgbClr val="FFFFFF"/>
                </a:solidFill>
              </a:rPr>
              <a:t>Link to Rubric </a:t>
            </a:r>
            <a:r>
              <a:rPr lang="en-US" sz="1800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-US" sz="1800">
                <a:solidFill>
                  <a:srgbClr val="FFFFFF"/>
                </a:solidFill>
              </a:rPr>
              <a:t>.</a:t>
            </a:r>
            <a:endParaRPr sz="1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800">
                <a:solidFill>
                  <a:srgbClr val="FFFFFF"/>
                </a:solidFill>
              </a:rPr>
              <a:t>*You have </a:t>
            </a:r>
            <a:r>
              <a:rPr b="1" lang="en-US" sz="1800">
                <a:solidFill>
                  <a:schemeClr val="accent6"/>
                </a:solidFill>
              </a:rPr>
              <a:t>3</a:t>
            </a:r>
            <a:r>
              <a:rPr b="1" lang="en-US" sz="1800">
                <a:solidFill>
                  <a:schemeClr val="accent6"/>
                </a:solidFill>
              </a:rPr>
              <a:t> TRIALS </a:t>
            </a:r>
            <a:r>
              <a:rPr lang="en-US" sz="1800">
                <a:solidFill>
                  <a:srgbClr val="FFFFFF"/>
                </a:solidFill>
              </a:rPr>
              <a:t>in total, but both have to be on the same course.</a:t>
            </a:r>
            <a:br>
              <a:rPr lang="en-US" sz="1800">
                <a:solidFill>
                  <a:srgbClr val="FFFFFF"/>
                </a:solidFill>
              </a:rPr>
            </a:b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Attempts on the hard course get 5 free points, and this CAN get you extra credit. (capped at 100)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36" name="Google Shape;136;p9"/>
          <p:cNvPicPr preferRelativeResize="0"/>
          <p:nvPr/>
        </p:nvPicPr>
        <p:blipFill rotWithShape="1">
          <a:blip r:embed="rId4">
            <a:alphaModFix/>
          </a:blip>
          <a:srcRect b="0" l="5407" r="2000" t="24138"/>
          <a:stretch/>
        </p:blipFill>
        <p:spPr>
          <a:xfrm>
            <a:off x="4465475" y="173700"/>
            <a:ext cx="4344499" cy="4796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Key Specifications</a:t>
            </a:r>
            <a:endParaRPr/>
          </a:p>
        </p:txBody>
      </p:sp>
      <p:sp>
        <p:nvSpPr>
          <p:cNvPr id="142" name="Google Shape;142;p10"/>
          <p:cNvSpPr txBox="1"/>
          <p:nvPr>
            <p:ph idx="1" type="body"/>
          </p:nvPr>
        </p:nvSpPr>
        <p:spPr>
          <a:xfrm>
            <a:off x="311700" y="1017725"/>
            <a:ext cx="8520600" cy="4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US">
                <a:solidFill>
                  <a:srgbClr val="FFFFFF"/>
                </a:solidFill>
              </a:rPr>
              <a:t>The robot can be no larger than </a:t>
            </a:r>
            <a:r>
              <a:rPr b="1" lang="en-US">
                <a:solidFill>
                  <a:schemeClr val="accent6"/>
                </a:solidFill>
              </a:rPr>
              <a:t>1 ft x 1ft x 1ft</a:t>
            </a:r>
            <a:r>
              <a:rPr lang="en-US">
                <a:solidFill>
                  <a:srgbClr val="FFFFFF"/>
                </a:solidFill>
              </a:rPr>
              <a:t>, but a smaller robot may be better.</a:t>
            </a:r>
            <a:endParaRPr>
              <a:solidFill>
                <a:srgbClr val="FFFFF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US">
                <a:solidFill>
                  <a:srgbClr val="FFFFFF"/>
                </a:solidFill>
              </a:rPr>
              <a:t>Teams can decide the </a:t>
            </a:r>
            <a:r>
              <a:rPr b="1" lang="en-US">
                <a:solidFill>
                  <a:schemeClr val="accent6"/>
                </a:solidFill>
              </a:rPr>
              <a:t>reference point</a:t>
            </a:r>
            <a:r>
              <a:rPr lang="en-US">
                <a:solidFill>
                  <a:srgbClr val="FFFFFF"/>
                </a:solidFill>
              </a:rPr>
              <a:t> on the robot for calculating the </a:t>
            </a:r>
            <a:r>
              <a:rPr b="1" lang="en-US">
                <a:solidFill>
                  <a:schemeClr val="accent6"/>
                </a:solidFill>
              </a:rPr>
              <a:t>L2 error</a:t>
            </a:r>
            <a:r>
              <a:rPr lang="en-US">
                <a:solidFill>
                  <a:srgbClr val="FFFFFF"/>
                </a:solidFill>
              </a:rPr>
              <a:t> (must be consistent during the demo).</a:t>
            </a:r>
            <a:endParaRPr>
              <a:solidFill>
                <a:srgbClr val="FFFFF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US">
                <a:solidFill>
                  <a:srgbClr val="FFFFFF"/>
                </a:solidFill>
              </a:rPr>
              <a:t>The start position (x1, y1) and end position (x2, y2) will be at least </a:t>
            </a:r>
            <a:r>
              <a:rPr b="1" lang="en-US">
                <a:solidFill>
                  <a:schemeClr val="accent6"/>
                </a:solidFill>
              </a:rPr>
              <a:t>5 in</a:t>
            </a:r>
            <a:r>
              <a:rPr lang="en-US">
                <a:solidFill>
                  <a:srgbClr val="FFFFFF"/>
                </a:solidFill>
              </a:rPr>
              <a:t> away from all obstacles, including the wall. </a:t>
            </a:r>
            <a:endParaRPr>
              <a:solidFill>
                <a:srgbClr val="FFFFF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US">
                <a:solidFill>
                  <a:srgbClr val="FFFFFF"/>
                </a:solidFill>
              </a:rPr>
              <a:t>The robot will be initially oriented in a </a:t>
            </a:r>
            <a:r>
              <a:rPr b="1" lang="en-US">
                <a:solidFill>
                  <a:schemeClr val="accent6"/>
                </a:solidFill>
              </a:rPr>
              <a:t>random cardinal</a:t>
            </a:r>
            <a:r>
              <a:rPr lang="en-US">
                <a:solidFill>
                  <a:srgbClr val="FFFFFF"/>
                </a:solidFill>
              </a:rPr>
              <a:t> direction.</a:t>
            </a:r>
            <a:endParaRPr>
              <a:solidFill>
                <a:srgbClr val="FFFFF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US">
                <a:solidFill>
                  <a:srgbClr val="FFFFFF"/>
                </a:solidFill>
              </a:rPr>
              <a:t>The map’s origin is at the </a:t>
            </a:r>
            <a:r>
              <a:rPr b="1" lang="en-US">
                <a:solidFill>
                  <a:schemeClr val="accent6"/>
                </a:solidFill>
              </a:rPr>
              <a:t>bottom left corner</a:t>
            </a:r>
            <a:r>
              <a:rPr lang="en-US">
                <a:solidFill>
                  <a:srgbClr val="FFFFFF"/>
                </a:solidFill>
              </a:rPr>
              <a:t> of the course.</a:t>
            </a:r>
            <a:endParaRPr>
              <a:solidFill>
                <a:srgbClr val="FFFFF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US">
                <a:solidFill>
                  <a:srgbClr val="FFFFFF"/>
                </a:solidFill>
              </a:rPr>
              <a:t>The border is 6 feet by 4 feet 6 inches. (</a:t>
            </a:r>
            <a:r>
              <a:rPr b="1" lang="en-US">
                <a:solidFill>
                  <a:schemeClr val="accent6"/>
                </a:solidFill>
              </a:rPr>
              <a:t>72” x 54”</a:t>
            </a:r>
            <a:r>
              <a:rPr lang="en-US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US">
                <a:solidFill>
                  <a:srgbClr val="FFFFFF"/>
                </a:solidFill>
              </a:rPr>
              <a:t>All coordinates are </a:t>
            </a:r>
            <a:r>
              <a:rPr b="1" lang="en-US">
                <a:solidFill>
                  <a:schemeClr val="accent6"/>
                </a:solidFill>
              </a:rPr>
              <a:t>in inches and within ⅛”</a:t>
            </a:r>
            <a:r>
              <a:rPr lang="en-US">
                <a:solidFill>
                  <a:srgbClr val="FFFFFF"/>
                </a:solidFill>
              </a:rPr>
              <a:t>.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897cde4a4c_1_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Key Regulations</a:t>
            </a:r>
            <a:endParaRPr/>
          </a:p>
        </p:txBody>
      </p:sp>
      <p:sp>
        <p:nvSpPr>
          <p:cNvPr id="148" name="Google Shape;148;g1897cde4a4c_1_27"/>
          <p:cNvSpPr txBox="1"/>
          <p:nvPr>
            <p:ph idx="1" type="body"/>
          </p:nvPr>
        </p:nvSpPr>
        <p:spPr>
          <a:xfrm>
            <a:off x="311700" y="1017725"/>
            <a:ext cx="8520600" cy="4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</a:pPr>
            <a:r>
              <a:rPr lang="en-US">
                <a:solidFill>
                  <a:srgbClr val="FFFFFF"/>
                </a:solidFill>
              </a:rPr>
              <a:t>The obstacles are assumed to be </a:t>
            </a:r>
            <a:r>
              <a:rPr b="1" lang="en-US">
                <a:solidFill>
                  <a:schemeClr val="accent6"/>
                </a:solidFill>
              </a:rPr>
              <a:t>infinitely tall</a:t>
            </a:r>
            <a:endParaRPr b="1">
              <a:solidFill>
                <a:schemeClr val="accent6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-US" sz="1800">
                <a:solidFill>
                  <a:srgbClr val="FFFFFF"/>
                </a:solidFill>
              </a:rPr>
              <a:t>No part of your robot can hover over the top of the obstacles regardless of how tall they are in the real world.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US">
                <a:solidFill>
                  <a:srgbClr val="FFFFFF"/>
                </a:solidFill>
              </a:rPr>
              <a:t>Your demo stops when your robot stops</a:t>
            </a:r>
            <a:endParaRPr>
              <a:solidFill>
                <a:srgbClr val="FFFFF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-US" sz="1800">
                <a:solidFill>
                  <a:srgbClr val="FFFFFF"/>
                </a:solidFill>
              </a:rPr>
              <a:t>Your L2 error will be calculated from the position of your robot at the time the trial was stopped.</a:t>
            </a:r>
            <a:endParaRPr sz="1800">
              <a:solidFill>
                <a:srgbClr val="FFFFF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-US" sz="1800">
                <a:solidFill>
                  <a:srgbClr val="FFFFFF"/>
                </a:solidFill>
              </a:rPr>
              <a:t>You may not prematurely stop your robot while it is completing its path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US">
                <a:solidFill>
                  <a:srgbClr val="FFFFFF"/>
                </a:solidFill>
              </a:rPr>
              <a:t>We will give you start/end points using the </a:t>
            </a:r>
            <a:r>
              <a:rPr b="1" lang="en-US">
                <a:solidFill>
                  <a:schemeClr val="accent6"/>
                </a:solidFill>
              </a:rPr>
              <a:t>axes convention</a:t>
            </a:r>
            <a:r>
              <a:rPr lang="en-US">
                <a:solidFill>
                  <a:srgbClr val="FFFFFF"/>
                </a:solidFill>
              </a:rPr>
              <a:t> outlined earlier.</a:t>
            </a:r>
            <a:endParaRPr>
              <a:solidFill>
                <a:srgbClr val="FFFFF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-US" sz="1800">
                <a:solidFill>
                  <a:srgbClr val="FFFFFF"/>
                </a:solidFill>
              </a:rPr>
              <a:t>If you are using a different convention, it is </a:t>
            </a:r>
            <a:r>
              <a:rPr b="1" lang="en-US" sz="1800">
                <a:solidFill>
                  <a:schemeClr val="accent6"/>
                </a:solidFill>
              </a:rPr>
              <a:t>your responsibility to convert </a:t>
            </a:r>
            <a:r>
              <a:rPr lang="en-US" sz="1800">
                <a:solidFill>
                  <a:srgbClr val="FFFFFF"/>
                </a:solidFill>
              </a:rPr>
              <a:t>what we give you to what you actually need.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897cde4a4c_1_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Key Regulations</a:t>
            </a:r>
            <a:endParaRPr/>
          </a:p>
        </p:txBody>
      </p:sp>
      <p:sp>
        <p:nvSpPr>
          <p:cNvPr id="154" name="Google Shape;154;g1897cde4a4c_1_1"/>
          <p:cNvSpPr txBox="1"/>
          <p:nvPr>
            <p:ph idx="1" type="body"/>
          </p:nvPr>
        </p:nvSpPr>
        <p:spPr>
          <a:xfrm>
            <a:off x="311700" y="1017725"/>
            <a:ext cx="8520600" cy="4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US">
                <a:solidFill>
                  <a:srgbClr val="FFFFFF"/>
                </a:solidFill>
              </a:rPr>
              <a:t>You must bring your gradin</a:t>
            </a:r>
            <a:r>
              <a:rPr lang="en-US">
                <a:solidFill>
                  <a:schemeClr val="dk1"/>
                </a:solidFill>
              </a:rPr>
              <a:t>g sheet to the demo. Teams without grading sheets will not be allowed to demo.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US">
                <a:solidFill>
                  <a:schemeClr val="dk1"/>
                </a:solidFill>
              </a:rPr>
              <a:t>You are </a:t>
            </a:r>
            <a:r>
              <a:rPr b="1" lang="en-US">
                <a:solidFill>
                  <a:schemeClr val="accent6"/>
                </a:solidFill>
              </a:rPr>
              <a:t>NOT allowed to use any sensors. </a:t>
            </a:r>
            <a:endParaRPr b="1">
              <a:solidFill>
                <a:schemeClr val="accent6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US">
                <a:solidFill>
                  <a:srgbClr val="FFFFFF"/>
                </a:solidFill>
              </a:rPr>
              <a:t>There is </a:t>
            </a:r>
            <a:r>
              <a:rPr b="1" lang="en-US">
                <a:solidFill>
                  <a:schemeClr val="accent6"/>
                </a:solidFill>
              </a:rPr>
              <a:t>a MANDATORY </a:t>
            </a:r>
            <a:r>
              <a:rPr b="1" lang="en-US">
                <a:solidFill>
                  <a:schemeClr val="accent6"/>
                </a:solidFill>
              </a:rPr>
              <a:t>video demo submission</a:t>
            </a:r>
            <a:r>
              <a:rPr lang="en-US">
                <a:solidFill>
                  <a:srgbClr val="FFFFFF"/>
                </a:solidFill>
              </a:rPr>
              <a:t> which can count up to 50% of your final lab grade if your in person grade falls below 50%.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US">
                <a:solidFill>
                  <a:srgbClr val="FFFFFF"/>
                </a:solidFill>
              </a:rPr>
              <a:t>You are </a:t>
            </a:r>
            <a:r>
              <a:rPr b="1" lang="en-US">
                <a:solidFill>
                  <a:schemeClr val="accent6"/>
                </a:solidFill>
              </a:rPr>
              <a:t>NOT allowed to use library functions </a:t>
            </a:r>
            <a:r>
              <a:rPr lang="en-US">
                <a:solidFill>
                  <a:srgbClr val="FFFFFF"/>
                </a:solidFill>
              </a:rPr>
              <a:t>to plan any part of your path (data structures like priority queues and such are allowed).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3f762e394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Additional Help</a:t>
            </a:r>
            <a:endParaRPr/>
          </a:p>
        </p:txBody>
      </p:sp>
      <p:sp>
        <p:nvSpPr>
          <p:cNvPr id="160" name="Google Shape;160;g333f762e394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>
                <a:solidFill>
                  <a:schemeClr val="dk1"/>
                </a:solidFill>
              </a:rPr>
              <a:t>We will provide you with construct_map.py, which you can use to generate maps for your path generation algorithms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>
                <a:solidFill>
                  <a:schemeClr val="dk1"/>
                </a:solidFill>
              </a:rPr>
              <a:t>We will provide you with some pseudocode for A*, pseudocode for a wavefront planner, and pseudocode for a roadmap path planning strategy. However, as mentioned before, you are allowed to use any algorithm for path planning.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These files will be released by tomorrow morning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Tips</a:t>
            </a:r>
            <a:endParaRPr/>
          </a:p>
        </p:txBody>
      </p:sp>
      <p:sp>
        <p:nvSpPr>
          <p:cNvPr id="166" name="Google Shape;166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Char char="●"/>
            </a:pPr>
            <a:r>
              <a:rPr b="1" lang="en-US">
                <a:solidFill>
                  <a:srgbClr val="FFFF00"/>
                </a:solidFill>
              </a:rPr>
              <a:t>Start early!</a:t>
            </a:r>
            <a:endParaRPr b="1">
              <a:solidFill>
                <a:srgbClr val="FFFFFF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-US" sz="1600">
                <a:solidFill>
                  <a:srgbClr val="FFFFFF"/>
                </a:solidFill>
              </a:rPr>
              <a:t>Consider what constitutes the optimal path</a:t>
            </a:r>
            <a:endParaRPr sz="1600">
              <a:solidFill>
                <a:srgbClr val="FFFFFF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</a:pPr>
            <a:r>
              <a:rPr lang="en-US" sz="1200">
                <a:solidFill>
                  <a:srgbClr val="FFFFFF"/>
                </a:solidFill>
              </a:rPr>
              <a:t>“Optimal with respect to what?”</a:t>
            </a:r>
            <a:endParaRPr sz="1200">
              <a:solidFill>
                <a:srgbClr val="FFFFFF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</a:pPr>
            <a:r>
              <a:rPr lang="en-US" sz="1200">
                <a:solidFill>
                  <a:srgbClr val="FFFFFF"/>
                </a:solidFill>
              </a:rPr>
              <a:t>Speed vs. Safety vs. Accuracy</a:t>
            </a:r>
            <a:endParaRPr sz="1200">
              <a:solidFill>
                <a:srgbClr val="FFFFFF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-US" sz="1600">
                <a:solidFill>
                  <a:srgbClr val="FFFFFF"/>
                </a:solidFill>
              </a:rPr>
              <a:t>Define a good C-Space before you start doing path planning</a:t>
            </a:r>
            <a:endParaRPr sz="1600">
              <a:solidFill>
                <a:srgbClr val="FFFFFF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</a:pPr>
            <a:r>
              <a:rPr lang="en-US" sz="1200">
                <a:solidFill>
                  <a:srgbClr val="FFFFFF"/>
                </a:solidFill>
              </a:rPr>
              <a:t>This will be affected by your robot size. Build with this in mind.</a:t>
            </a:r>
            <a:endParaRPr sz="1200">
              <a:solidFill>
                <a:srgbClr val="FFFFFF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</a:pPr>
            <a:r>
              <a:rPr lang="en-US" sz="1200">
                <a:solidFill>
                  <a:srgbClr val="FFFFFF"/>
                </a:solidFill>
              </a:rPr>
              <a:t>Be sure you know where is the </a:t>
            </a:r>
            <a:r>
              <a:rPr lang="en-US" sz="1200">
                <a:solidFill>
                  <a:srgbClr val="FFFF00"/>
                </a:solidFill>
              </a:rPr>
              <a:t>origin </a:t>
            </a:r>
            <a:r>
              <a:rPr lang="en-US" sz="1200">
                <a:solidFill>
                  <a:srgbClr val="FFFFFF"/>
                </a:solidFill>
              </a:rPr>
              <a:t>of your C-space</a:t>
            </a:r>
            <a:endParaRPr sz="1200">
              <a:solidFill>
                <a:srgbClr val="FFFFFF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-US" sz="1600">
                <a:solidFill>
                  <a:srgbClr val="FFFFFF"/>
                </a:solidFill>
              </a:rPr>
              <a:t>Take time to tune your dead-reckoning properly</a:t>
            </a:r>
            <a:endParaRPr sz="1600">
              <a:solidFill>
                <a:srgbClr val="FFFFFF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</a:pPr>
            <a:r>
              <a:rPr lang="en-US" sz="1200">
                <a:solidFill>
                  <a:srgbClr val="FFFFFF"/>
                </a:solidFill>
              </a:rPr>
              <a:t>Think about mechanical changes that can give you an advantage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167" name="Google Shape;167;p11"/>
          <p:cNvSpPr txBox="1"/>
          <p:nvPr>
            <p:ph idx="2" type="body"/>
          </p:nvPr>
        </p:nvSpPr>
        <p:spPr>
          <a:xfrm>
            <a:off x="4737150" y="434875"/>
            <a:ext cx="3999900" cy="4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Choose your algorithm carefully</a:t>
            </a:r>
            <a:endParaRPr sz="16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US">
                <a:solidFill>
                  <a:schemeClr val="dk1"/>
                </a:solidFill>
              </a:rPr>
              <a:t>Ease of implementation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US">
                <a:solidFill>
                  <a:schemeClr val="dk1"/>
                </a:solidFill>
              </a:rPr>
              <a:t>Quality of solution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US">
                <a:solidFill>
                  <a:schemeClr val="dk1"/>
                </a:solidFill>
              </a:rPr>
              <a:t>Reliability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rgbClr val="FFFF00"/>
                </a:solidFill>
              </a:rPr>
              <a:t>Practice the demo</a:t>
            </a:r>
            <a:r>
              <a:rPr lang="en-US" sz="1600">
                <a:solidFill>
                  <a:schemeClr val="dk1"/>
                </a:solidFill>
              </a:rPr>
              <a:t> procedure before your demo!</a:t>
            </a:r>
            <a:endParaRPr sz="16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US">
                <a:solidFill>
                  <a:schemeClr val="dk1"/>
                </a:solidFill>
              </a:rPr>
              <a:t>Ensure that the path you calculated can be easily ported into your movement implementation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Be prepared to answer questions at the end of your demo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Hitting an obstacle will severely hurt your chances of successfully completing a path.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Your code from Lab 3 (Odometry) with PID incorporated into it will be useful for this lab.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